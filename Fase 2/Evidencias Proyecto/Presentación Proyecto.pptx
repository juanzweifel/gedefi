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Raleway Bold" charset="1" panose="020B0803030101060003"/>
      <p:regular r:id="rId25"/>
    </p:embeddedFont>
    <p:embeddedFont>
      <p:font typeface="Raleway" charset="1" panose="020B0503030101060003"/>
      <p:regular r:id="rId26"/>
    </p:embeddedFont>
    <p:embeddedFont>
      <p:font typeface="Open Sans Bold" charset="1" panose="020B0806030504020204"/>
      <p:regular r:id="rId27"/>
    </p:embeddedFont>
    <p:embeddedFont>
      <p:font typeface="Open Sans" charset="1" panose="020B0606030504020204"/>
      <p:regular r:id="rId28"/>
    </p:embeddedFont>
    <p:embeddedFont>
      <p:font typeface="DM Sans Bold" charset="1" panose="00000000000000000000"/>
      <p:regular r:id="rId29"/>
    </p:embeddedFont>
    <p:embeddedFont>
      <p:font typeface="Assistant" charset="1" panose="00000500000000000000"/>
      <p:regular r:id="rId30"/>
    </p:embeddedFont>
    <p:embeddedFont>
      <p:font typeface="Montserrat Bold" charset="1" panose="00000800000000000000"/>
      <p:regular r:id="rId31"/>
    </p:embeddedFont>
    <p:embeddedFont>
      <p:font typeface="DM Sans" charset="1" panose="00000000000000000000"/>
      <p:regular r:id="rId32"/>
    </p:embeddedFont>
    <p:embeddedFont>
      <p:font typeface="Assistant Bold" charset="1" panose="000008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jpeg" Type="http://schemas.openxmlformats.org/officeDocument/2006/relationships/image"/><Relationship Id="rId6" Target="../media/image8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4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2" Target="../media/image3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jpe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789943" y="1281225"/>
            <a:ext cx="13284470" cy="8743596"/>
          </a:xfrm>
          <a:custGeom>
            <a:avLst/>
            <a:gdLst/>
            <a:ahLst/>
            <a:cxnLst/>
            <a:rect r="r" b="b" t="t" l="l"/>
            <a:pathLst>
              <a:path h="8743596" w="13284470">
                <a:moveTo>
                  <a:pt x="13284470" y="0"/>
                </a:moveTo>
                <a:lnTo>
                  <a:pt x="0" y="0"/>
                </a:lnTo>
                <a:lnTo>
                  <a:pt x="0" y="8743596"/>
                </a:lnTo>
                <a:lnTo>
                  <a:pt x="13284470" y="8743596"/>
                </a:lnTo>
                <a:lnTo>
                  <a:pt x="132844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829" y="4624323"/>
            <a:ext cx="7929425" cy="766521"/>
            <a:chOff x="0" y="0"/>
            <a:chExt cx="1458095" cy="140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8095" cy="140951"/>
            </a:xfrm>
            <a:custGeom>
              <a:avLst/>
              <a:gdLst/>
              <a:ahLst/>
              <a:cxnLst/>
              <a:rect r="r" b="b" t="t" l="l"/>
              <a:pathLst>
                <a:path h="140951" w="1458095">
                  <a:moveTo>
                    <a:pt x="0" y="0"/>
                  </a:moveTo>
                  <a:lnTo>
                    <a:pt x="1458095" y="0"/>
                  </a:lnTo>
                  <a:lnTo>
                    <a:pt x="1458095" y="140951"/>
                  </a:lnTo>
                  <a:lnTo>
                    <a:pt x="0" y="140951"/>
                  </a:lnTo>
                  <a:close/>
                </a:path>
              </a:pathLst>
            </a:custGeom>
            <a:solidFill>
              <a:srgbClr val="2821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458095" cy="226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-5400000">
            <a:off x="174709" y="223719"/>
            <a:ext cx="413361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3031383">
            <a:off x="-1990177" y="7967861"/>
            <a:ext cx="5224781" cy="5629394"/>
          </a:xfrm>
          <a:custGeom>
            <a:avLst/>
            <a:gdLst/>
            <a:ahLst/>
            <a:cxnLst/>
            <a:rect r="r" b="b" t="t" l="l"/>
            <a:pathLst>
              <a:path h="5629394" w="5224781">
                <a:moveTo>
                  <a:pt x="0" y="0"/>
                </a:moveTo>
                <a:lnTo>
                  <a:pt x="5224781" y="0"/>
                </a:lnTo>
                <a:lnTo>
                  <a:pt x="5224781" y="5629394"/>
                </a:lnTo>
                <a:lnTo>
                  <a:pt x="0" y="562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-5400000">
            <a:off x="-88895" y="7975637"/>
            <a:ext cx="45846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7963758">
            <a:off x="14836003" y="-3325366"/>
            <a:ext cx="5224781" cy="5629394"/>
          </a:xfrm>
          <a:custGeom>
            <a:avLst/>
            <a:gdLst/>
            <a:ahLst/>
            <a:cxnLst/>
            <a:rect r="r" b="b" t="t" l="l"/>
            <a:pathLst>
              <a:path h="5629394" w="5224781">
                <a:moveTo>
                  <a:pt x="0" y="0"/>
                </a:moveTo>
                <a:lnTo>
                  <a:pt x="5224782" y="0"/>
                </a:lnTo>
                <a:lnTo>
                  <a:pt x="5224782" y="5629395"/>
                </a:lnTo>
                <a:lnTo>
                  <a:pt x="0" y="5629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93829" y="2018824"/>
            <a:ext cx="7929425" cy="26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37"/>
              </a:lnSpc>
            </a:pPr>
            <a:r>
              <a:rPr lang="en-US" b="true" sz="15606" spc="1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GEDEFI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85040" y="5628955"/>
            <a:ext cx="5716645" cy="26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0"/>
              </a:lnSpc>
            </a:pPr>
            <a:r>
              <a:rPr lang="en-US" sz="376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Integrantes: </a:t>
            </a:r>
          </a:p>
          <a:p>
            <a:pPr algn="l">
              <a:lnSpc>
                <a:spcPts val="5190"/>
              </a:lnSpc>
            </a:pPr>
            <a:r>
              <a:rPr lang="en-US" sz="376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Giovani Barra</a:t>
            </a:r>
          </a:p>
          <a:p>
            <a:pPr algn="l">
              <a:lnSpc>
                <a:spcPts val="5190"/>
              </a:lnSpc>
            </a:pPr>
            <a:r>
              <a:rPr lang="en-US" sz="376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Juan Borquez</a:t>
            </a:r>
          </a:p>
          <a:p>
            <a:pPr algn="l">
              <a:lnSpc>
                <a:spcPts val="5190"/>
              </a:lnSpc>
            </a:pPr>
            <a:r>
              <a:rPr lang="en-US" sz="376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Luis Saez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804190"/>
            <a:ext cx="7573503" cy="1799281"/>
            <a:chOff x="0" y="0"/>
            <a:chExt cx="1860408" cy="441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0408" cy="441988"/>
            </a:xfrm>
            <a:custGeom>
              <a:avLst/>
              <a:gdLst/>
              <a:ahLst/>
              <a:cxnLst/>
              <a:rect r="r" b="b" t="t" l="l"/>
              <a:pathLst>
                <a:path h="441988" w="1860408">
                  <a:moveTo>
                    <a:pt x="0" y="0"/>
                  </a:moveTo>
                  <a:lnTo>
                    <a:pt x="1860408" y="0"/>
                  </a:lnTo>
                  <a:lnTo>
                    <a:pt x="1860408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60408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4246073"/>
            <a:ext cx="7573503" cy="1799281"/>
            <a:chOff x="0" y="0"/>
            <a:chExt cx="1860408" cy="4419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60408" cy="441988"/>
            </a:xfrm>
            <a:custGeom>
              <a:avLst/>
              <a:gdLst/>
              <a:ahLst/>
              <a:cxnLst/>
              <a:rect r="r" b="b" t="t" l="l"/>
              <a:pathLst>
                <a:path h="441988" w="1860408">
                  <a:moveTo>
                    <a:pt x="0" y="0"/>
                  </a:moveTo>
                  <a:lnTo>
                    <a:pt x="1860408" y="0"/>
                  </a:lnTo>
                  <a:lnTo>
                    <a:pt x="1860408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60408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6683529"/>
            <a:ext cx="7573503" cy="1799281"/>
            <a:chOff x="0" y="0"/>
            <a:chExt cx="1860408" cy="4419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0408" cy="441988"/>
            </a:xfrm>
            <a:custGeom>
              <a:avLst/>
              <a:gdLst/>
              <a:ahLst/>
              <a:cxnLst/>
              <a:rect r="r" b="b" t="t" l="l"/>
              <a:pathLst>
                <a:path h="441988" w="1860408">
                  <a:moveTo>
                    <a:pt x="0" y="0"/>
                  </a:moveTo>
                  <a:lnTo>
                    <a:pt x="1860408" y="0"/>
                  </a:lnTo>
                  <a:lnTo>
                    <a:pt x="1860408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60408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22122" y="4274503"/>
            <a:ext cx="398085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Equipo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5318" y="2380298"/>
            <a:ext cx="31353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Giovanni Barra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95318" y="4822181"/>
            <a:ext cx="27610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Juan Borquez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95318" y="7244869"/>
            <a:ext cx="18843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Luis Saez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97036" y="2398858"/>
            <a:ext cx="30523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 Owner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94495" y="4819967"/>
            <a:ext cx="6096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97036" y="7244869"/>
            <a:ext cx="27766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Desarrollador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-1403776" y="1306823"/>
            <a:ext cx="1305899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01365">
            <a:off x="-1663810" y="8706979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62943" y="2520271"/>
            <a:ext cx="561552" cy="470193"/>
            <a:chOff x="0" y="0"/>
            <a:chExt cx="137944" cy="1155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50163" y="2500714"/>
            <a:ext cx="3151569" cy="1799281"/>
            <a:chOff x="0" y="0"/>
            <a:chExt cx="774173" cy="4419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4173" cy="441988"/>
            </a:xfrm>
            <a:custGeom>
              <a:avLst/>
              <a:gdLst/>
              <a:ahLst/>
              <a:cxnLst/>
              <a:rect r="r" b="b" t="t" l="l"/>
              <a:pathLst>
                <a:path h="441988" w="774173">
                  <a:moveTo>
                    <a:pt x="0" y="0"/>
                  </a:moveTo>
                  <a:lnTo>
                    <a:pt x="774173" y="0"/>
                  </a:lnTo>
                  <a:lnTo>
                    <a:pt x="774173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74173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62943" y="4764479"/>
            <a:ext cx="561552" cy="470193"/>
            <a:chOff x="0" y="0"/>
            <a:chExt cx="137944" cy="115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50163" y="4623845"/>
            <a:ext cx="3151569" cy="1799281"/>
            <a:chOff x="0" y="0"/>
            <a:chExt cx="774173" cy="4419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4173" cy="441988"/>
            </a:xfrm>
            <a:custGeom>
              <a:avLst/>
              <a:gdLst/>
              <a:ahLst/>
              <a:cxnLst/>
              <a:rect r="r" b="b" t="t" l="l"/>
              <a:pathLst>
                <a:path h="441988" w="774173">
                  <a:moveTo>
                    <a:pt x="0" y="0"/>
                  </a:moveTo>
                  <a:lnTo>
                    <a:pt x="774173" y="0"/>
                  </a:lnTo>
                  <a:lnTo>
                    <a:pt x="774173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74173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62943" y="6866039"/>
            <a:ext cx="561552" cy="470193"/>
            <a:chOff x="0" y="0"/>
            <a:chExt cx="137944" cy="1155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50163" y="6746976"/>
            <a:ext cx="3151569" cy="1799281"/>
            <a:chOff x="0" y="0"/>
            <a:chExt cx="774173" cy="4419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4173" cy="441988"/>
            </a:xfrm>
            <a:custGeom>
              <a:avLst/>
              <a:gdLst/>
              <a:ahLst/>
              <a:cxnLst/>
              <a:rect r="r" b="b" t="t" l="l"/>
              <a:pathLst>
                <a:path h="441988" w="774173">
                  <a:moveTo>
                    <a:pt x="0" y="0"/>
                  </a:moveTo>
                  <a:lnTo>
                    <a:pt x="774173" y="0"/>
                  </a:lnTo>
                  <a:lnTo>
                    <a:pt x="774173" y="441988"/>
                  </a:lnTo>
                  <a:lnTo>
                    <a:pt x="0" y="44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74173" cy="480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5400000">
            <a:off x="12127793" y="4124129"/>
            <a:ext cx="6456981" cy="6360248"/>
          </a:xfrm>
          <a:custGeom>
            <a:avLst/>
            <a:gdLst/>
            <a:ahLst/>
            <a:cxnLst/>
            <a:rect r="r" b="b" t="t" l="l"/>
            <a:pathLst>
              <a:path h="6360248" w="6456981">
                <a:moveTo>
                  <a:pt x="0" y="0"/>
                </a:moveTo>
                <a:lnTo>
                  <a:pt x="6456981" y="0"/>
                </a:lnTo>
                <a:lnTo>
                  <a:pt x="6456981" y="6360248"/>
                </a:lnTo>
                <a:lnTo>
                  <a:pt x="0" y="6360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2214260" y="888690"/>
            <a:ext cx="4786661" cy="8509619"/>
            <a:chOff x="0" y="0"/>
            <a:chExt cx="13716000" cy="2438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24384000"/>
                  </a:move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24384000"/>
                  </a:lnTo>
                  <a:close/>
                </a:path>
              </a:pathLst>
            </a:custGeom>
            <a:blipFill>
              <a:blip r:embed="rId5"/>
              <a:stretch>
                <a:fillRect l="-83333" t="0" r="-83333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24384000"/>
                  </a:move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24384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651253" y="2934409"/>
            <a:ext cx="5384561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Act</a:t>
            </a:r>
            <a:r>
              <a:rPr lang="en-US" sz="2199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ualmente la asociación mantiene todos sus procesos de manera manual, esto conlleva a una carga laboral innecesaria sobre los dirigentes encargados de dichas funciones.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6592" y="1419817"/>
            <a:ext cx="12968315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b="true" sz="4800" spc="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PROBLEMÁTICA ACTUAL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50163" y="2338789"/>
            <a:ext cx="3273571" cy="146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64"/>
              </a:lnSpc>
            </a:pPr>
            <a:r>
              <a:rPr lang="en-US" b="true" sz="8617">
                <a:solidFill>
                  <a:srgbClr val="281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96672" y="3775420"/>
            <a:ext cx="3058552" cy="35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1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Clubes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51253" y="5171648"/>
            <a:ext cx="5172144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La asociación no posee un medio oficial y formal donde se envíen comunicados a todas las partes interesadas.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51253" y="4716854"/>
            <a:ext cx="4142712" cy="46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b="true" sz="27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Comunicaciones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50163" y="4490495"/>
            <a:ext cx="327357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281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5000+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50163" y="5898551"/>
            <a:ext cx="3058552" cy="35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1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Jugadores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51253" y="7273201"/>
            <a:ext cx="5172144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D</a:t>
            </a:r>
            <a:r>
              <a:rPr lang="en-US" sz="2199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ebido a la poca accesibilidad a la información, la asociación se ve con el desafío de mantener un perfil transparente con el público general y los propios jugadores asociados.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51253" y="6818414"/>
            <a:ext cx="5010063" cy="46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b="true" sz="27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Transparencia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50163" y="6585051"/>
            <a:ext cx="3273571" cy="147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64"/>
              </a:lnSpc>
            </a:pPr>
            <a:r>
              <a:rPr lang="en-US" b="true" sz="8617">
                <a:solidFill>
                  <a:srgbClr val="281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2720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57673" y="8021682"/>
            <a:ext cx="3058552" cy="35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1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Partidos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51253" y="2472646"/>
            <a:ext cx="3778569" cy="46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b="true" sz="27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Procesos manuales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-1403776" y="1306823"/>
            <a:ext cx="1305899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01365">
            <a:off x="-1663810" y="8706979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3629883" y="5577621"/>
            <a:ext cx="6456981" cy="6360248"/>
          </a:xfrm>
          <a:custGeom>
            <a:avLst/>
            <a:gdLst/>
            <a:ahLst/>
            <a:cxnLst/>
            <a:rect r="r" b="b" t="t" l="l"/>
            <a:pathLst>
              <a:path h="6360248" w="6456981">
                <a:moveTo>
                  <a:pt x="0" y="0"/>
                </a:moveTo>
                <a:lnTo>
                  <a:pt x="6456982" y="0"/>
                </a:lnTo>
                <a:lnTo>
                  <a:pt x="6456982" y="6360248"/>
                </a:lnTo>
                <a:lnTo>
                  <a:pt x="0" y="6360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6592" y="1419817"/>
            <a:ext cx="12968315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b="true" sz="4800" spc="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PROPUESTA DE SOLUCIÓN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138927" y="1028700"/>
            <a:ext cx="4786661" cy="8509619"/>
            <a:chOff x="0" y="0"/>
            <a:chExt cx="13716000" cy="2438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24384000"/>
                  </a:move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24384000"/>
                  </a:lnTo>
                  <a:close/>
                </a:path>
              </a:pathLst>
            </a:custGeom>
            <a:blipFill>
              <a:blip r:embed="rId5"/>
              <a:stretch>
                <a:fillRect l="-74320" t="0" r="-7432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24384000"/>
                  </a:move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24384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33170" y="2539701"/>
            <a:ext cx="12316340" cy="728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Nuestra propuesta ofrece una plataforma web integral para modernizar la organización deportiva, permitiendo gestionar usuarios, canchas y clubes, generar calendarios y fixtures automáticamente, administrar pagos y controlar asistencia y comunicaciones desde un sistema centralizado.</a:t>
            </a:r>
          </a:p>
          <a:p>
            <a:pPr algn="just" marL="0" indent="0" lvl="0">
              <a:lnSpc>
                <a:spcPts val="44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Además, al estandarizar la información, con el tiempo será posible realizar análisis más profundos que ayuden a descubrir distintos patrones dentro de la organización. Por ejemplo, se podrá detectar jugadores con proyección profesional, identificar señales tempranas de deserción o incluso prevenir lesiones ajustando la carga de entrenamientos.</a:t>
            </a:r>
          </a:p>
          <a:p>
            <a:pPr algn="just" marL="0" indent="0" lvl="0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06193">
            <a:off x="-1814697" y="9548830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06193">
            <a:off x="12995773" y="-710656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2892" y="3429006"/>
            <a:ext cx="15690209" cy="321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2"/>
              </a:lnSpc>
            </a:pPr>
            <a:r>
              <a:rPr lang="en-US" sz="368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Implementar </a:t>
            </a:r>
            <a:r>
              <a:rPr lang="en-US" sz="368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una plataforma web que permita optimizar los procesos administrativos, deportivos y comunicacionales de la Asociación de Fútbol Caupolicán Chiguayante, aplicando una metodología de desarrollo de software que garantice trazabilidad, calidad y gestión integral del proyecto.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2892" y="1522953"/>
            <a:ext cx="14002396" cy="109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1"/>
              </a:lnSpc>
            </a:pPr>
            <a:r>
              <a:rPr lang="en-US" b="true" sz="6399" spc="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 GENERAL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06193">
            <a:off x="-1814697" y="9548830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06193">
            <a:off x="12995773" y="-710656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42" t="-57700" r="-2948" b="-554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04875"/>
            <a:ext cx="10573381" cy="109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1"/>
              </a:lnSpc>
            </a:pPr>
            <a:r>
              <a:rPr lang="en-US" b="true" sz="6399" spc="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OBJETIVOS ESPECÍFICOS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73365"/>
            <a:ext cx="15890724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1.-Mejorar la eficiencia administrativa de la asociación, 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mediante la digitalización de procesos administrativos para reducir en un 60% los tiempos de gestión manual de información.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Tiempo: 6 meses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2.-Mejorar la calidad y precisión de los datos institucionales, 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centralizando los registros de jugadores, clubes, series y partidos, reduciendo los errores de duplicidad y asegurando la validez de los datos.</a:t>
            </a:r>
          </a:p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Tiempo: 3 meses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3.- Fortalecer la toma de decisiones mediante análisis institucional, 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mediante el modulo dedicado a la generación de reportes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Tiempo: 9 meses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17260" y="-806179"/>
            <a:ext cx="6456981" cy="6360248"/>
          </a:xfrm>
          <a:custGeom>
            <a:avLst/>
            <a:gdLst/>
            <a:ahLst/>
            <a:cxnLst/>
            <a:rect r="r" b="b" t="t" l="l"/>
            <a:pathLst>
              <a:path h="6360248" w="6456981">
                <a:moveTo>
                  <a:pt x="0" y="0"/>
                </a:moveTo>
                <a:lnTo>
                  <a:pt x="6456982" y="0"/>
                </a:lnTo>
                <a:lnTo>
                  <a:pt x="6456982" y="6360248"/>
                </a:lnTo>
                <a:lnTo>
                  <a:pt x="0" y="6360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43824"/>
            <a:ext cx="5392020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b="true" sz="4800" spc="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ALCANCES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09129" y="2373945"/>
            <a:ext cx="561552" cy="588721"/>
            <a:chOff x="0" y="0"/>
            <a:chExt cx="137944" cy="1446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944" cy="144618"/>
            </a:xfrm>
            <a:custGeom>
              <a:avLst/>
              <a:gdLst/>
              <a:ahLst/>
              <a:cxnLst/>
              <a:rect r="r" b="b" t="t" l="l"/>
              <a:pathLst>
                <a:path h="144618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44618"/>
                  </a:lnTo>
                  <a:lnTo>
                    <a:pt x="0" y="144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37944" cy="201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316795"/>
            <a:ext cx="7416876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Gestión centralizada y digitalizada de información deportiva y administrativa</a:t>
            </a:r>
          </a:p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50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GEDEFI permite a la Asociación y los clubes gestionar desde una sola plataforma jugadores, clubes, entrenamientos, rendimiento y fondos económicos, reemplazando procesos manuales o distribuidos.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42" t="-57700" r="-2948" b="-5547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21250" y="942975"/>
            <a:ext cx="5392020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b="true" sz="4800" spc="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LIMITACIONES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272761"/>
            <a:ext cx="7416876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Control de acceso por roles y seguridad de la información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 La plataforma distingue entre administradores y clubes, asegurando que solo accedan a la información que les corresponde, con autenticación JWT y flujos protegidos.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9129" y="6329911"/>
            <a:ext cx="561552" cy="588721"/>
            <a:chOff x="0" y="0"/>
            <a:chExt cx="137944" cy="144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944" cy="144618"/>
            </a:xfrm>
            <a:custGeom>
              <a:avLst/>
              <a:gdLst/>
              <a:ahLst/>
              <a:cxnLst/>
              <a:rect r="r" b="b" t="t" l="l"/>
              <a:pathLst>
                <a:path h="144618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44618"/>
                  </a:lnTo>
                  <a:lnTo>
                    <a:pt x="0" y="144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7944" cy="201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59698" y="2373945"/>
            <a:ext cx="561552" cy="588721"/>
            <a:chOff x="0" y="0"/>
            <a:chExt cx="137944" cy="1446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944" cy="144618"/>
            </a:xfrm>
            <a:custGeom>
              <a:avLst/>
              <a:gdLst/>
              <a:ahLst/>
              <a:cxnLst/>
              <a:rect r="r" b="b" t="t" l="l"/>
              <a:pathLst>
                <a:path h="144618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44618"/>
                  </a:lnTo>
                  <a:lnTo>
                    <a:pt x="0" y="144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7944" cy="201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59698" y="5083134"/>
            <a:ext cx="561552" cy="588721"/>
            <a:chOff x="0" y="0"/>
            <a:chExt cx="137944" cy="1446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944" cy="144618"/>
            </a:xfrm>
            <a:custGeom>
              <a:avLst/>
              <a:gdLst/>
              <a:ahLst/>
              <a:cxnLst/>
              <a:rect r="r" b="b" t="t" l="l"/>
              <a:pathLst>
                <a:path h="144618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44618"/>
                  </a:lnTo>
                  <a:lnTo>
                    <a:pt x="0" y="144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37944" cy="201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783175" y="2316795"/>
            <a:ext cx="7416876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No permite que los jugadores tengan cuenta de usuario</a:t>
            </a:r>
          </a:p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50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Los jugadores no pueden ingresar directamente al sistema. Toda incorporación sigue siendo administrada por el club o la asociación.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3175" y="4990061"/>
            <a:ext cx="7416876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No ofrece una aplicación móvil nativa</a:t>
            </a:r>
          </a:p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50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GEDEFI funciona a través de un navegador web y, si bien cuenta con diseño responsivo, está optimizada principalmente para uso en computadores de escritorio, no para dispositivos móviles.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59698" y="7988013"/>
            <a:ext cx="561552" cy="588721"/>
            <a:chOff x="0" y="0"/>
            <a:chExt cx="137944" cy="1446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944" cy="144618"/>
            </a:xfrm>
            <a:custGeom>
              <a:avLst/>
              <a:gdLst/>
              <a:ahLst/>
              <a:cxnLst/>
              <a:rect r="r" b="b" t="t" l="l"/>
              <a:pathLst>
                <a:path h="144618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44618"/>
                  </a:lnTo>
                  <a:lnTo>
                    <a:pt x="0" y="144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37944" cy="201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783175" y="7930863"/>
            <a:ext cx="7416876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No incluye control biométrico real en cancha</a:t>
            </a:r>
          </a:p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500">
                <a:solidFill>
                  <a:srgbClr val="281C22"/>
                </a:solidFill>
                <a:latin typeface="DM Sans"/>
                <a:ea typeface="DM Sans"/>
                <a:cs typeface="DM Sans"/>
                <a:sym typeface="DM Sans"/>
              </a:rPr>
              <a:t>Aunque se registra asistencia y rendimiento, el sistema no integra hardware como lectores de huella o RFID en vivo durante partidos o entrenamientos.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-1738170" y="6467912"/>
            <a:ext cx="76000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-5400000">
            <a:off x="947880" y="-19050"/>
            <a:ext cx="23041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341028" y="2686924"/>
            <a:ext cx="561552" cy="470193"/>
            <a:chOff x="0" y="0"/>
            <a:chExt cx="137944" cy="1155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41028" y="4836607"/>
            <a:ext cx="561552" cy="470193"/>
            <a:chOff x="0" y="0"/>
            <a:chExt cx="137944" cy="115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41028" y="7742193"/>
            <a:ext cx="561552" cy="470193"/>
            <a:chOff x="0" y="0"/>
            <a:chExt cx="137944" cy="115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944" cy="115502"/>
            </a:xfrm>
            <a:custGeom>
              <a:avLst/>
              <a:gdLst/>
              <a:ahLst/>
              <a:cxnLst/>
              <a:rect r="r" b="b" t="t" l="l"/>
              <a:pathLst>
                <a:path h="115502" w="137944">
                  <a:moveTo>
                    <a:pt x="0" y="0"/>
                  </a:moveTo>
                  <a:lnTo>
                    <a:pt x="137944" y="0"/>
                  </a:lnTo>
                  <a:lnTo>
                    <a:pt x="137944" y="115502"/>
                  </a:lnTo>
                  <a:lnTo>
                    <a:pt x="0" y="115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7944" cy="1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576130" y="-726303"/>
            <a:ext cx="7090490" cy="6984265"/>
          </a:xfrm>
          <a:custGeom>
            <a:avLst/>
            <a:gdLst/>
            <a:ahLst/>
            <a:cxnLst/>
            <a:rect r="r" b="b" t="t" l="l"/>
            <a:pathLst>
              <a:path h="6984265" w="7090490">
                <a:moveTo>
                  <a:pt x="0" y="0"/>
                </a:moveTo>
                <a:lnTo>
                  <a:pt x="7090490" y="0"/>
                </a:lnTo>
                <a:lnTo>
                  <a:pt x="7090490" y="6984265"/>
                </a:lnTo>
                <a:lnTo>
                  <a:pt x="0" y="6984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9641765" y="1640765"/>
            <a:ext cx="7617535" cy="7617535"/>
            <a:chOff x="0" y="0"/>
            <a:chExt cx="14187043" cy="141870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96629" y="1408117"/>
            <a:ext cx="749515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METODOLOGÍA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30320" y="3109492"/>
            <a:ext cx="5862043" cy="194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Fuerte en planificación y documentación detallada.</a:t>
            </a:r>
          </a:p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Asegura trazabilidad y claridad en el alcance del proyecto.</a:t>
            </a:r>
          </a:p>
          <a:p>
            <a:pPr algn="l">
              <a:lnSpc>
                <a:spcPts val="313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029338" y="2639299"/>
            <a:ext cx="5386822" cy="381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b="true" sz="22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Metodología tradicional (Cascada)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29338" y="5259176"/>
            <a:ext cx="5862043" cy="272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Ite</a:t>
            </a:r>
            <a:r>
              <a:rPr lang="en-US" sz="22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raciones cortas (sprints) permiten entregar valor de manera continua.</a:t>
            </a:r>
          </a:p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Facilita la retroalimentación constante de los interesados.</a:t>
            </a:r>
          </a:p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Mejora la adaptación a cambios y reduce la incertidumbre.</a:t>
            </a:r>
          </a:p>
          <a:p>
            <a:pPr algn="l">
              <a:lnSpc>
                <a:spcPts val="3138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029338" y="4788982"/>
            <a:ext cx="3778569" cy="381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b="true" sz="22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Metodología</a:t>
            </a:r>
            <a:r>
              <a:rPr lang="en-US" b="true" sz="22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241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ágil (Scrum)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29338" y="7694568"/>
            <a:ext cx="3778569" cy="38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9"/>
              </a:lnSpc>
            </a:pPr>
            <a:r>
              <a:rPr lang="en-US" b="true" sz="2235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Metología hibrida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29338" y="8164761"/>
            <a:ext cx="5862043" cy="1162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Document</a:t>
            </a:r>
            <a:r>
              <a:rPr lang="en-US" sz="22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ación sólida (cascada).</a:t>
            </a:r>
          </a:p>
          <a:p>
            <a:pPr algn="l" marL="484039" indent="-242020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Flexibilidad y adaptación (Scrum).</a:t>
            </a:r>
          </a:p>
          <a:p>
            <a:pPr algn="l">
              <a:lnSpc>
                <a:spcPts val="3138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0" y="4196935"/>
            <a:ext cx="1828800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3452508" y="2853473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CRONOGRAMA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63045" y="3777353"/>
            <a:ext cx="1778927" cy="839163"/>
            <a:chOff x="0" y="0"/>
            <a:chExt cx="436988" cy="2061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emanas</a:t>
              </a: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6216306" y="4632981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V="true">
            <a:off x="8905569" y="2853473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V="true">
            <a:off x="11669366" y="4632981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 flipV="true">
            <a:off x="14358629" y="2853473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1981306" y="2287941"/>
            <a:ext cx="31754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Inicio de proyecto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579818">
            <a:off x="15701598" y="-1548653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60" y="0"/>
                </a:lnTo>
                <a:lnTo>
                  <a:pt x="4193960" y="4518745"/>
                </a:lnTo>
                <a:lnTo>
                  <a:pt x="0" y="451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6133579">
            <a:off x="-2231092" y="8567964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H="true">
            <a:off x="0" y="8217837"/>
            <a:ext cx="1828800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triangle" len="med" w="lg"/>
            <a:tailEnd type="oval" len="lg" w="lg"/>
          </a:ln>
        </p:spPr>
      </p:sp>
      <p:sp>
        <p:nvSpPr>
          <p:cNvPr name="AutoShape 16" id="16"/>
          <p:cNvSpPr/>
          <p:nvPr/>
        </p:nvSpPr>
        <p:spPr>
          <a:xfrm flipV="true">
            <a:off x="3471558" y="6807266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7" id="17"/>
          <p:cNvSpPr/>
          <p:nvPr/>
        </p:nvSpPr>
        <p:spPr>
          <a:xfrm flipV="true">
            <a:off x="6216306" y="8653883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8" id="18"/>
          <p:cNvSpPr/>
          <p:nvPr/>
        </p:nvSpPr>
        <p:spPr>
          <a:xfrm flipV="true">
            <a:off x="8905569" y="6874375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9" id="19"/>
          <p:cNvSpPr/>
          <p:nvPr/>
        </p:nvSpPr>
        <p:spPr>
          <a:xfrm flipV="true">
            <a:off x="11669366" y="8653883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flipV="true">
            <a:off x="14358629" y="6874375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5307792" y="3758303"/>
            <a:ext cx="1778927" cy="839163"/>
            <a:chOff x="0" y="0"/>
            <a:chExt cx="436988" cy="2061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016105" y="3758303"/>
            <a:ext cx="1778927" cy="839163"/>
            <a:chOff x="0" y="0"/>
            <a:chExt cx="436988" cy="2061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66841" y="7751070"/>
            <a:ext cx="1778927" cy="839163"/>
            <a:chOff x="0" y="0"/>
            <a:chExt cx="436988" cy="2061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326842" y="7751070"/>
            <a:ext cx="1778927" cy="839163"/>
            <a:chOff x="0" y="0"/>
            <a:chExt cx="436988" cy="2061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779903" y="3777353"/>
            <a:ext cx="1778927" cy="839163"/>
            <a:chOff x="0" y="0"/>
            <a:chExt cx="436988" cy="20613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016105" y="7814720"/>
            <a:ext cx="1778927" cy="839163"/>
            <a:chOff x="0" y="0"/>
            <a:chExt cx="436988" cy="2061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sz="27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Semanas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779903" y="7751070"/>
            <a:ext cx="1778927" cy="839163"/>
            <a:chOff x="0" y="0"/>
            <a:chExt cx="436988" cy="2061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sz="27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69166" y="7798255"/>
            <a:ext cx="1778927" cy="839163"/>
            <a:chOff x="0" y="0"/>
            <a:chExt cx="436988" cy="2061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sz="27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Semanas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469166" y="3758303"/>
            <a:ext cx="1778927" cy="839163"/>
            <a:chOff x="0" y="0"/>
            <a:chExt cx="436988" cy="2061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6988" cy="206138"/>
            </a:xfrm>
            <a:custGeom>
              <a:avLst/>
              <a:gdLst/>
              <a:ahLst/>
              <a:cxnLst/>
              <a:rect r="r" b="b" t="t" l="l"/>
              <a:pathLst>
                <a:path h="206138" w="436988">
                  <a:moveTo>
                    <a:pt x="0" y="0"/>
                  </a:moveTo>
                  <a:lnTo>
                    <a:pt x="436988" y="0"/>
                  </a:lnTo>
                  <a:lnTo>
                    <a:pt x="436988" y="206138"/>
                  </a:lnTo>
                  <a:lnTo>
                    <a:pt x="0" y="20613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76200"/>
              <a:ext cx="436988" cy="129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2547"/>
                </a:lnSpc>
              </a:pP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2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emanas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5480694" y="5506271"/>
            <a:ext cx="14331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Diseño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317820" y="2287941"/>
            <a:ext cx="31754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 de usuarios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97596" y="5506271"/>
            <a:ext cx="34715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 de clubes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770880" y="2129406"/>
            <a:ext cx="31754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 financiera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75315" y="6175875"/>
            <a:ext cx="358748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 administrativa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628557" y="9540104"/>
            <a:ext cx="31754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</a:t>
            </a: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</a:t>
            </a: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de canchas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169784" y="6290065"/>
            <a:ext cx="347157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Gestión</a:t>
            </a:r>
            <a:r>
              <a:rPr lang="en-US" b="true" sz="2600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</a:t>
            </a:r>
            <a:r>
              <a:rPr lang="en-US" b="true" sz="2600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de calendario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18604" y="9530579"/>
            <a:ext cx="349085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Integración y pruebas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770880" y="6325936"/>
            <a:ext cx="34715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Cierre de proyecto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8085" y="0"/>
            <a:ext cx="15211830" cy="10287000"/>
          </a:xfrm>
          <a:custGeom>
            <a:avLst/>
            <a:gdLst/>
            <a:ahLst/>
            <a:cxnLst/>
            <a:rect r="r" b="b" t="t" l="l"/>
            <a:pathLst>
              <a:path h="10287000" w="15211830">
                <a:moveTo>
                  <a:pt x="0" y="0"/>
                </a:moveTo>
                <a:lnTo>
                  <a:pt x="15211830" y="0"/>
                </a:lnTo>
                <a:lnTo>
                  <a:pt x="152118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97251" y="316326"/>
            <a:ext cx="9143279" cy="192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DEL SOFTWARE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8714" y="1782626"/>
            <a:ext cx="15136577" cy="7984545"/>
          </a:xfrm>
          <a:custGeom>
            <a:avLst/>
            <a:gdLst/>
            <a:ahLst/>
            <a:cxnLst/>
            <a:rect r="r" b="b" t="t" l="l"/>
            <a:pathLst>
              <a:path h="7984545" w="15136577">
                <a:moveTo>
                  <a:pt x="0" y="0"/>
                </a:moveTo>
                <a:lnTo>
                  <a:pt x="15136577" y="0"/>
                </a:lnTo>
                <a:lnTo>
                  <a:pt x="15136577" y="7984545"/>
                </a:lnTo>
                <a:lnTo>
                  <a:pt x="0" y="798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64817"/>
            <a:ext cx="11987623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DE LA SOLUCIÓN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89005"/>
            <a:ext cx="16606863" cy="7369295"/>
          </a:xfrm>
          <a:custGeom>
            <a:avLst/>
            <a:gdLst/>
            <a:ahLst/>
            <a:cxnLst/>
            <a:rect r="r" b="b" t="t" l="l"/>
            <a:pathLst>
              <a:path h="7369295" w="16606863">
                <a:moveTo>
                  <a:pt x="0" y="0"/>
                </a:moveTo>
                <a:lnTo>
                  <a:pt x="16606863" y="0"/>
                </a:lnTo>
                <a:lnTo>
                  <a:pt x="16606863" y="7369295"/>
                </a:lnTo>
                <a:lnTo>
                  <a:pt x="0" y="7369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DE DATOS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4528" y="1889005"/>
            <a:ext cx="6518944" cy="8397995"/>
          </a:xfrm>
          <a:custGeom>
            <a:avLst/>
            <a:gdLst/>
            <a:ahLst/>
            <a:cxnLst/>
            <a:rect r="r" b="b" t="t" l="l"/>
            <a:pathLst>
              <a:path h="8397995" w="6518944">
                <a:moveTo>
                  <a:pt x="0" y="0"/>
                </a:moveTo>
                <a:lnTo>
                  <a:pt x="6518944" y="0"/>
                </a:lnTo>
                <a:lnTo>
                  <a:pt x="6518944" y="8397995"/>
                </a:lnTo>
                <a:lnTo>
                  <a:pt x="0" y="8397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DE DATOS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8998"/>
            <a:ext cx="14484045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ELEMENTOS ANALÍTICOS A INCORPORAR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73127"/>
            <a:ext cx="16230600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Finanzas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93547"/>
            <a:ext cx="1623060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va a medir la rentabilidad financiera de la asociación porque esto entregara una evaluación de la sostenibilidad de económica de la organización. Se medirá directamente con los registros de ingresos y egresos de la asociación.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07717"/>
            <a:ext cx="1623060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713862"/>
            <a:ext cx="1623060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medirá el indice de suspensión de partidos porque esto entregara una vision general de los posibles patrones de cancelación a lo largo de la planificación de partidos. Se medira comparando los partidos programados con los partidos cancelados y sus motivos.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627523"/>
            <a:ext cx="1623060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Rendimiento deportivo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09479"/>
            <a:ext cx="1623060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medirá el desempeño deportivo de los jugadores obtenido en los partidos y entrenamientos porque esto permitirá crear un perfil profesional. Se medirá tomando las métricas registradas luego de cada entrenamiento y cada partido.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79818">
            <a:off x="15701598" y="-1548653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60" y="0"/>
                </a:lnTo>
                <a:lnTo>
                  <a:pt x="4193960" y="4518745"/>
                </a:lnTo>
                <a:lnTo>
                  <a:pt x="0" y="451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1403776" y="1047750"/>
            <a:ext cx="1646555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23856" y="5289599"/>
            <a:ext cx="1496601" cy="419024"/>
            <a:chOff x="0" y="0"/>
            <a:chExt cx="367635" cy="1029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7635" cy="102932"/>
            </a:xfrm>
            <a:custGeom>
              <a:avLst/>
              <a:gdLst/>
              <a:ahLst/>
              <a:cxnLst/>
              <a:rect r="r" b="b" t="t" l="l"/>
              <a:pathLst>
                <a:path h="102932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67635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REACT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6133579">
            <a:off x="-2231092" y="8567964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662182" y="5289599"/>
            <a:ext cx="1496601" cy="419024"/>
            <a:chOff x="0" y="0"/>
            <a:chExt cx="367635" cy="1029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7635" cy="102932"/>
            </a:xfrm>
            <a:custGeom>
              <a:avLst/>
              <a:gdLst/>
              <a:ahLst/>
              <a:cxnLst/>
              <a:rect r="r" b="b" t="t" l="l"/>
              <a:pathLst>
                <a:path h="102932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67635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FastAPI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79934" y="5289599"/>
            <a:ext cx="2013954" cy="419024"/>
            <a:chOff x="0" y="0"/>
            <a:chExt cx="494722" cy="1029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722" cy="102932"/>
            </a:xfrm>
            <a:custGeom>
              <a:avLst/>
              <a:gdLst/>
              <a:ahLst/>
              <a:cxnLst/>
              <a:rect r="r" b="b" t="t" l="l"/>
              <a:pathLst>
                <a:path h="102932" w="494722">
                  <a:moveTo>
                    <a:pt x="0" y="0"/>
                  </a:moveTo>
                  <a:lnTo>
                    <a:pt x="494722" y="0"/>
                  </a:lnTo>
                  <a:lnTo>
                    <a:pt x="494722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94722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POSTGRESQL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70126" y="2921665"/>
            <a:ext cx="2339654" cy="2085217"/>
          </a:xfrm>
          <a:custGeom>
            <a:avLst/>
            <a:gdLst/>
            <a:ahLst/>
            <a:cxnLst/>
            <a:rect r="r" b="b" t="t" l="l"/>
            <a:pathLst>
              <a:path h="2085217" w="2339654">
                <a:moveTo>
                  <a:pt x="0" y="0"/>
                </a:moveTo>
                <a:lnTo>
                  <a:pt x="2339654" y="0"/>
                </a:lnTo>
                <a:lnTo>
                  <a:pt x="2339654" y="2085216"/>
                </a:lnTo>
                <a:lnTo>
                  <a:pt x="0" y="2085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03884" y="2511627"/>
            <a:ext cx="2541313" cy="2650652"/>
          </a:xfrm>
          <a:custGeom>
            <a:avLst/>
            <a:gdLst/>
            <a:ahLst/>
            <a:cxnLst/>
            <a:rect r="r" b="b" t="t" l="l"/>
            <a:pathLst>
              <a:path h="2650652" w="2541313">
                <a:moveTo>
                  <a:pt x="0" y="0"/>
                </a:moveTo>
                <a:lnTo>
                  <a:pt x="2541313" y="0"/>
                </a:lnTo>
                <a:lnTo>
                  <a:pt x="2541313" y="2650652"/>
                </a:lnTo>
                <a:lnTo>
                  <a:pt x="0" y="26506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0126" y="6579637"/>
            <a:ext cx="2187876" cy="2187876"/>
          </a:xfrm>
          <a:custGeom>
            <a:avLst/>
            <a:gdLst/>
            <a:ahLst/>
            <a:cxnLst/>
            <a:rect r="r" b="b" t="t" l="l"/>
            <a:pathLst>
              <a:path h="2187876" w="2187876">
                <a:moveTo>
                  <a:pt x="0" y="0"/>
                </a:moveTo>
                <a:lnTo>
                  <a:pt x="2187875" y="0"/>
                </a:lnTo>
                <a:lnTo>
                  <a:pt x="2187875" y="2187875"/>
                </a:lnTo>
                <a:lnTo>
                  <a:pt x="0" y="2187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129265" y="6392357"/>
            <a:ext cx="2562435" cy="2562435"/>
          </a:xfrm>
          <a:custGeom>
            <a:avLst/>
            <a:gdLst/>
            <a:ahLst/>
            <a:cxnLst/>
            <a:rect r="r" b="b" t="t" l="l"/>
            <a:pathLst>
              <a:path h="2562435" w="2562435">
                <a:moveTo>
                  <a:pt x="0" y="0"/>
                </a:moveTo>
                <a:lnTo>
                  <a:pt x="2562435" y="0"/>
                </a:lnTo>
                <a:lnTo>
                  <a:pt x="2562435" y="2562435"/>
                </a:lnTo>
                <a:lnTo>
                  <a:pt x="0" y="2562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8805" y="6392357"/>
            <a:ext cx="2676213" cy="2676213"/>
          </a:xfrm>
          <a:custGeom>
            <a:avLst/>
            <a:gdLst/>
            <a:ahLst/>
            <a:cxnLst/>
            <a:rect r="r" b="b" t="t" l="l"/>
            <a:pathLst>
              <a:path h="2676213" w="2676213">
                <a:moveTo>
                  <a:pt x="0" y="0"/>
                </a:moveTo>
                <a:lnTo>
                  <a:pt x="2676212" y="0"/>
                </a:lnTo>
                <a:lnTo>
                  <a:pt x="2676212" y="2676212"/>
                </a:lnTo>
                <a:lnTo>
                  <a:pt x="0" y="26762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528830" y="9354319"/>
            <a:ext cx="1854893" cy="419024"/>
            <a:chOff x="0" y="0"/>
            <a:chExt cx="455649" cy="1029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5649" cy="102932"/>
            </a:xfrm>
            <a:custGeom>
              <a:avLst/>
              <a:gdLst/>
              <a:ahLst/>
              <a:cxnLst/>
              <a:rect r="r" b="b" t="t" l="l"/>
              <a:pathLst>
                <a:path h="102932" w="455649">
                  <a:moveTo>
                    <a:pt x="0" y="0"/>
                  </a:moveTo>
                  <a:lnTo>
                    <a:pt x="455649" y="0"/>
                  </a:lnTo>
                  <a:lnTo>
                    <a:pt x="455649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55649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SQLAlchemy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662182" y="9354319"/>
            <a:ext cx="1496601" cy="419024"/>
            <a:chOff x="0" y="0"/>
            <a:chExt cx="367635" cy="1029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7635" cy="102932"/>
            </a:xfrm>
            <a:custGeom>
              <a:avLst/>
              <a:gdLst/>
              <a:ahLst/>
              <a:cxnLst/>
              <a:rect r="r" b="b" t="t" l="l"/>
              <a:pathLst>
                <a:path h="102932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67635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JWT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79934" y="9354319"/>
            <a:ext cx="2013954" cy="419024"/>
            <a:chOff x="0" y="0"/>
            <a:chExt cx="494722" cy="1029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4722" cy="102932"/>
            </a:xfrm>
            <a:custGeom>
              <a:avLst/>
              <a:gdLst/>
              <a:ahLst/>
              <a:cxnLst/>
              <a:rect r="r" b="b" t="t" l="l"/>
              <a:pathLst>
                <a:path h="102932" w="494722">
                  <a:moveTo>
                    <a:pt x="0" y="0"/>
                  </a:moveTo>
                  <a:lnTo>
                    <a:pt x="494722" y="0"/>
                  </a:lnTo>
                  <a:lnTo>
                    <a:pt x="494722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94722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GRAFANA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279504" y="2833294"/>
            <a:ext cx="2261957" cy="2261957"/>
          </a:xfrm>
          <a:custGeom>
            <a:avLst/>
            <a:gdLst/>
            <a:ahLst/>
            <a:cxnLst/>
            <a:rect r="r" b="b" t="t" l="l"/>
            <a:pathLst>
              <a:path h="2261957" w="2261957">
                <a:moveTo>
                  <a:pt x="0" y="0"/>
                </a:moveTo>
                <a:lnTo>
                  <a:pt x="2261957" y="0"/>
                </a:lnTo>
                <a:lnTo>
                  <a:pt x="2261957" y="2261958"/>
                </a:lnTo>
                <a:lnTo>
                  <a:pt x="0" y="2261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042" t="-57700" r="-2948" b="-55473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31068" y="3239928"/>
            <a:ext cx="3419415" cy="1154052"/>
          </a:xfrm>
          <a:custGeom>
            <a:avLst/>
            <a:gdLst/>
            <a:ahLst/>
            <a:cxnLst/>
            <a:rect r="r" b="b" t="t" l="l"/>
            <a:pathLst>
              <a:path h="1154052" w="3419415">
                <a:moveTo>
                  <a:pt x="0" y="0"/>
                </a:moveTo>
                <a:lnTo>
                  <a:pt x="3419414" y="0"/>
                </a:lnTo>
                <a:lnTo>
                  <a:pt x="3419414" y="1154053"/>
                </a:lnTo>
                <a:lnTo>
                  <a:pt x="0" y="11540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948395" y="5288072"/>
            <a:ext cx="2013954" cy="419024"/>
            <a:chOff x="0" y="0"/>
            <a:chExt cx="494722" cy="1029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4722" cy="102932"/>
            </a:xfrm>
            <a:custGeom>
              <a:avLst/>
              <a:gdLst/>
              <a:ahLst/>
              <a:cxnLst/>
              <a:rect r="r" b="b" t="t" l="l"/>
              <a:pathLst>
                <a:path h="102932" w="494722">
                  <a:moveTo>
                    <a:pt x="0" y="0"/>
                  </a:moveTo>
                  <a:lnTo>
                    <a:pt x="494722" y="0"/>
                  </a:lnTo>
                  <a:lnTo>
                    <a:pt x="494722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94722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WEBPAY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3388384" y="6978511"/>
            <a:ext cx="3304782" cy="1976282"/>
          </a:xfrm>
          <a:custGeom>
            <a:avLst/>
            <a:gdLst/>
            <a:ahLst/>
            <a:cxnLst/>
            <a:rect r="r" b="b" t="t" l="l"/>
            <a:pathLst>
              <a:path h="1976282" w="3304782">
                <a:moveTo>
                  <a:pt x="0" y="0"/>
                </a:moveTo>
                <a:lnTo>
                  <a:pt x="3304782" y="0"/>
                </a:lnTo>
                <a:lnTo>
                  <a:pt x="3304782" y="1976281"/>
                </a:lnTo>
                <a:lnTo>
                  <a:pt x="0" y="197628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77351" y="1144464"/>
            <a:ext cx="14221998" cy="116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b="true" sz="6850" spc="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TECNOLOGÍAS/HERRAMIENTAS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938512" y="9354319"/>
            <a:ext cx="2246526" cy="419024"/>
            <a:chOff x="0" y="0"/>
            <a:chExt cx="551852" cy="1029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1852" cy="102932"/>
            </a:xfrm>
            <a:custGeom>
              <a:avLst/>
              <a:gdLst/>
              <a:ahLst/>
              <a:cxnLst/>
              <a:rect r="r" b="b" t="t" l="l"/>
              <a:pathLst>
                <a:path h="102932" w="551852">
                  <a:moveTo>
                    <a:pt x="0" y="0"/>
                  </a:moveTo>
                  <a:lnTo>
                    <a:pt x="551852" y="0"/>
                  </a:lnTo>
                  <a:lnTo>
                    <a:pt x="551852" y="102932"/>
                  </a:lnTo>
                  <a:lnTo>
                    <a:pt x="0" y="10293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51852" cy="15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REACT-ROUTER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5853" y="2394131"/>
            <a:ext cx="17136295" cy="613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214" indent="-222107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DE UNA PLATAFORMA WEB FUNCIONAL QUE P</a:t>
            </a: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ERMITE GESTIONAR INFORMACIÓN DEPORTIVA, ADMINISTRATIVA Y FINANCIERA DE LOS CLUBES DE LA ASOCIACIÓN DE FÚTBOL CAUPOLICÁN CHIGUAYANTE.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444214" indent="-222107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MÓDULOS CLAVE DEL SISTEMA, COMO:</a:t>
            </a:r>
          </a:p>
          <a:p>
            <a:pPr algn="l" marL="888427" indent="-296142" lvl="2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USUARIOS Y ROLES</a:t>
            </a:r>
          </a:p>
          <a:p>
            <a:pPr algn="l" marL="888427" indent="-296142" lvl="2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ADMINISTRACIÓN DE CLUBES, SERIES Y JUGADORES</a:t>
            </a:r>
          </a:p>
          <a:p>
            <a:pPr algn="l" marL="888427" indent="-296142" lvl="2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REGISTRO DE ENTRENAMIENTOS Y RENDIMIENTO DEPORTIVO</a:t>
            </a:r>
          </a:p>
          <a:p>
            <a:pPr algn="l" marL="888427" indent="-296142" lvl="2">
              <a:lnSpc>
                <a:spcPts val="2880"/>
              </a:lnSpc>
              <a:spcBef>
                <a:spcPct val="0"/>
              </a:spcBef>
              <a:buFont typeface="Arial"/>
              <a:buChar char="⚬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DEL FONDO DE AYUDA SOLIDARIA (FAS)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444214" indent="-222107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REUNIONES REALIZADAS CON EL CLIENTE, DONDE SE VALIDARON REQUERIMIENTOS, SE AJUSTARON PRIORIDADES Y SE RECIBIERON OBSERVACIONES PARA MEJORAR LA PLATAFORMA SEGÚN NECESIDADES REALES.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444214" indent="-222107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TRABAJO COLABORATIVO Y ORGANIZADO, APLICANDO UNA METODOLOGÍA MIXTA DONDE LA FASE INICIAL SE ABORDÓ DE FORMA TRADICIONAL CON PLANIFICACIÓN, ANÁLISIS Y DISEÑO ESTRUCTURADO Y EL DESARROLLO SE LLEVÓ A CABO DE MANERA ÁGIL, LO QUE PERMITIÓ PRIORIZAR MÓDULOS CRÍTICOS, AJUSTAR TAREAS Y REPLANIFICAR CUANDO FUE NECESARIO.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865205" y="3122006"/>
            <a:ext cx="2712733" cy="2214268"/>
          </a:xfrm>
          <a:custGeom>
            <a:avLst/>
            <a:gdLst/>
            <a:ahLst/>
            <a:cxnLst/>
            <a:rect r="r" b="b" t="t" l="l"/>
            <a:pathLst>
              <a:path h="2214268" w="2712733">
                <a:moveTo>
                  <a:pt x="0" y="0"/>
                </a:moveTo>
                <a:lnTo>
                  <a:pt x="2712733" y="0"/>
                </a:lnTo>
                <a:lnTo>
                  <a:pt x="2712733" y="2214268"/>
                </a:lnTo>
                <a:lnTo>
                  <a:pt x="0" y="2214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03298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RESULTADOS OBTENIDOS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489" y="2832081"/>
            <a:ext cx="17805022" cy="4622838"/>
          </a:xfrm>
          <a:custGeom>
            <a:avLst/>
            <a:gdLst/>
            <a:ahLst/>
            <a:cxnLst/>
            <a:rect r="r" b="b" t="t" l="l"/>
            <a:pathLst>
              <a:path h="4622838" w="17805022">
                <a:moveTo>
                  <a:pt x="0" y="0"/>
                </a:moveTo>
                <a:lnTo>
                  <a:pt x="17805022" y="0"/>
                </a:lnTo>
                <a:lnTo>
                  <a:pt x="17805022" y="4622838"/>
                </a:lnTo>
                <a:lnTo>
                  <a:pt x="0" y="4622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1" t="0" r="-17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03298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RESULTADOS OBTENIDOS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0709" y="1928230"/>
            <a:ext cx="6908591" cy="7330070"/>
          </a:xfrm>
          <a:custGeom>
            <a:avLst/>
            <a:gdLst/>
            <a:ahLst/>
            <a:cxnLst/>
            <a:rect r="r" b="b" t="t" l="l"/>
            <a:pathLst>
              <a:path h="7330070" w="6908591">
                <a:moveTo>
                  <a:pt x="0" y="0"/>
                </a:moveTo>
                <a:lnTo>
                  <a:pt x="6908591" y="0"/>
                </a:lnTo>
                <a:lnTo>
                  <a:pt x="6908591" y="7330070"/>
                </a:lnTo>
                <a:lnTo>
                  <a:pt x="0" y="7330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38731"/>
            <a:ext cx="10243760" cy="194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OBSTÁCULOS PRESENTADOS DURANTE EL DESARROLLO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19855"/>
            <a:ext cx="886925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Tiempo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Limitaciones de entorno de desarrollo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Curva de aprendizaje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Integracion de servicios externos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-1403776" y="1306823"/>
            <a:ext cx="1305899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101365">
            <a:off x="-1663810" y="8706979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2127793" y="4124129"/>
            <a:ext cx="6456981" cy="6360248"/>
          </a:xfrm>
          <a:custGeom>
            <a:avLst/>
            <a:gdLst/>
            <a:ahLst/>
            <a:cxnLst/>
            <a:rect r="r" b="b" t="t" l="l"/>
            <a:pathLst>
              <a:path h="6360248" w="6456981">
                <a:moveTo>
                  <a:pt x="0" y="0"/>
                </a:moveTo>
                <a:lnTo>
                  <a:pt x="6456981" y="0"/>
                </a:lnTo>
                <a:lnTo>
                  <a:pt x="6456981" y="6360248"/>
                </a:lnTo>
                <a:lnTo>
                  <a:pt x="0" y="6360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731865" y="2686853"/>
            <a:ext cx="8360561" cy="5804751"/>
            <a:chOff x="0" y="0"/>
            <a:chExt cx="1295270" cy="899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5270" cy="899308"/>
            </a:xfrm>
            <a:custGeom>
              <a:avLst/>
              <a:gdLst/>
              <a:ahLst/>
              <a:cxnLst/>
              <a:rect r="r" b="b" t="t" l="l"/>
              <a:pathLst>
                <a:path h="899308" w="1295270">
                  <a:moveTo>
                    <a:pt x="0" y="0"/>
                  </a:moveTo>
                  <a:lnTo>
                    <a:pt x="1295270" y="0"/>
                  </a:lnTo>
                  <a:lnTo>
                    <a:pt x="1295270" y="899308"/>
                  </a:lnTo>
                  <a:lnTo>
                    <a:pt x="0" y="899308"/>
                  </a:lnTo>
                  <a:close/>
                </a:path>
              </a:pathLst>
            </a:custGeom>
            <a:blipFill>
              <a:blip r:embed="rId5"/>
              <a:stretch>
                <a:fillRect l="0" t="-1490" r="0" b="-149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0006" y="4158256"/>
            <a:ext cx="7784019" cy="2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“El fútb</a:t>
            </a:r>
            <a:r>
              <a:rPr lang="en-US" b="true" sz="3200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ol amateur mueve a millones de personas con este software queremos que esa pasión se gestione con la misma profesionalidad y tecnología que el deporte merece.”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6629" y="1408117"/>
            <a:ext cx="9143279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COMENTARIO FINAL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002935" y="235808"/>
            <a:ext cx="3960829" cy="639555"/>
          </a:xfrm>
          <a:custGeom>
            <a:avLst/>
            <a:gdLst/>
            <a:ahLst/>
            <a:cxnLst/>
            <a:rect r="r" b="b" t="t" l="l"/>
            <a:pathLst>
              <a:path h="639555" w="3960829">
                <a:moveTo>
                  <a:pt x="0" y="0"/>
                </a:moveTo>
                <a:lnTo>
                  <a:pt x="3960829" y="0"/>
                </a:lnTo>
                <a:lnTo>
                  <a:pt x="3960829" y="639555"/>
                </a:lnTo>
                <a:lnTo>
                  <a:pt x="0" y="639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42" t="-57700" r="-2948" b="-5547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DAG4IPlvaH8</dc:identifier>
  <dcterms:modified xsi:type="dcterms:W3CDTF">2011-08-01T06:04:30Z</dcterms:modified>
  <cp:revision>1</cp:revision>
  <dc:title>Fase 2</dc:title>
</cp:coreProperties>
</file>